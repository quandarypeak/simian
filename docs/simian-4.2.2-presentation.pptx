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Default options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Go</c:v>
                </c:pt>
                <c:pt idx="1">
                  <c:v>TypeScript</c:v>
                </c:pt>
                <c:pt idx="2">
                  <c:v>Python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new ignore options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Go</c:v>
                </c:pt>
                <c:pt idx="1">
                  <c:v>TypeScript</c:v>
                </c:pt>
                <c:pt idx="2">
                  <c:v>Python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6</c:v>
                </c:pt>
                <c:pt idx="2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4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Calibri"/>
            </a:defRPr>
          </a:pPr>
        </a:p>
      </c:txPr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9591F"/>
                </a:solidFill>
                <a:latin typeface="Calibri"/>
              </a:rPr>
              <a:t>SIMIAN SIMILARITY ANALYZER  ·  v4.2.2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A1A18"/>
                </a:solidFill>
                <a:latin typeface="Georgia"/>
              </a:rPr>
              <a:t>Three New Languages.</a:t>
            </a:r>
          </a:p>
          <a:p>
            <a:r>
              <a:rPr sz="4400" b="1">
                <a:solidFill>
                  <a:srgbClr val="1A1A18"/>
                </a:solidFill>
                <a:latin typeface="Georgia"/>
              </a:rPr>
              <a:t>Four Quiet Bugs,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2514E"/>
                </a:solidFill>
                <a:latin typeface="Consolas"/>
              </a:rPr>
              <a:t>Branch: feature/python-parser-and-typescript</a:t>
            </a:r>
          </a:p>
          <a:p>
            <a:r>
              <a:rPr sz="1600">
                <a:solidFill>
                  <a:srgbClr val="52514E"/>
                </a:solidFill>
                <a:latin typeface="Calibri"/>
              </a:rPr>
              <a:t>Go, TypeScript &amp; Python parser support, plus four duplicate-detection bug fixes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6928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8A3D14"/>
                </a:solidFill>
                <a:latin typeface="Calibri"/>
              </a:rPr>
              <a:t>+2,600 test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5669280"/>
            <a:ext cx="3072384" cy="384048"/>
          </a:xfrm>
          <a:prstGeom prst="roundRect">
            <a:avLst>
              <a:gd name="adj" fmla="val 50000"/>
            </a:avLst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 new/enhanced parsers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2552" y="566928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8A3D14"/>
                </a:solidFill>
                <a:latin typeface="Calibri"/>
              </a:rPr>
              <a:t>4 bug fixes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31936" y="5669280"/>
            <a:ext cx="2953512" cy="384048"/>
          </a:xfrm>
          <a:prstGeom prst="roundRect">
            <a:avLst>
              <a:gd name="adj" fmla="val 50000"/>
            </a:avLst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8A3D14"/>
                </a:solidFill>
                <a:latin typeface="Calibri"/>
              </a:rPr>
              <a:t>v4.2.2 · Jun 16,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Overview: what shipped in this branch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How Simian finds duplicate code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Go: new language support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TypeScript: enhancements &amp; fixes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Python: enhancements &amp; fixes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Four bug fixes, explained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Results: duplication found, before vs. after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New &amp; changed CLI options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2000" b="1">
                <a:solidFill>
                  <a:srgbClr val="1A1A18"/>
                </a:solidFill>
                <a:latin typeface="Calibri"/>
              </a:rPr>
              <a:t>■ Try it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RELEASE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What shipped in this branch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Go: brand-new language support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Dedicated GoParser + GoParserFactory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Raw string (backtick) literals normalised before tokenising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Grouped import ( ... ) blocks suppressed to avoid false matches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Full keyword, built-in type and built-in function recognition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TypeScript: enhanced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Tuple types fully suppressed under ignoreTypeAnnotations, including nested arrays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Two classification bugs fixed (await, single-letter generics)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Python: enhanced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Triple-quoted strings normalised; string prefixes stripped from fingerprints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Full keyword/builtin recognition, including match/case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Two classification bugs fixed (floor division, underscore identifiers)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HOW IT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Branch history: layered one language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1A1A18"/>
                </a:solidFill>
                <a:latin typeface="Calibri"/>
              </a:rPr>
              <a:t>■ </a:t>
            </a:r>
            <a:r>
              <a:rPr sz="1800" b="1">
                <a:solidFill>
                  <a:srgbClr val="8A3D14"/>
                </a:solidFill>
                <a:latin typeface="Consolas"/>
              </a:rPr>
              <a:t>56cd64e  </a:t>
            </a:r>
            <a:r>
              <a:rPr sz="1800" b="0">
                <a:solidFill>
                  <a:srgbClr val="1A1A18"/>
                </a:solidFill>
                <a:latin typeface="Calibri"/>
              </a:rPr>
              <a:t>TypeScript support + JUnit contribution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1A1A18"/>
                </a:solidFill>
                <a:latin typeface="Calibri"/>
              </a:rPr>
              <a:t>■ </a:t>
            </a:r>
            <a:r>
              <a:rPr sz="1800" b="1">
                <a:solidFill>
                  <a:srgbClr val="8A3D14"/>
                </a:solidFill>
                <a:latin typeface="Consolas"/>
              </a:rPr>
              <a:t>78edb64  </a:t>
            </a:r>
            <a:r>
              <a:rPr sz="1800" b="0">
                <a:solidFill>
                  <a:srgbClr val="1A1A18"/>
                </a:solidFill>
                <a:latin typeface="Calibri"/>
              </a:rPr>
              <a:t>Merge main into the TypeScript branch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1A1A18"/>
                </a:solidFill>
                <a:latin typeface="Calibri"/>
              </a:rPr>
              <a:t>■ </a:t>
            </a:r>
            <a:r>
              <a:rPr sz="1800" b="1">
                <a:solidFill>
                  <a:srgbClr val="8A3D14"/>
                </a:solidFill>
                <a:latin typeface="Consolas"/>
              </a:rPr>
              <a:t>9c37cf3  </a:t>
            </a:r>
            <a:r>
              <a:rPr sz="1800" b="0">
                <a:solidFill>
                  <a:srgbClr val="1A1A18"/>
                </a:solidFill>
                <a:latin typeface="Calibri"/>
              </a:rPr>
              <a:t>Python parser added, with test fixtures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1A1A18"/>
                </a:solidFill>
                <a:latin typeface="Calibri"/>
              </a:rPr>
              <a:t>■ </a:t>
            </a:r>
            <a:r>
              <a:rPr sz="1800" b="1">
                <a:solidFill>
                  <a:srgbClr val="8A3D14"/>
                </a:solidFill>
                <a:latin typeface="Consolas"/>
              </a:rPr>
              <a:t>ef99e43  </a:t>
            </a:r>
            <a:r>
              <a:rPr sz="1800" b="0">
                <a:solidFill>
                  <a:srgbClr val="1A1A18"/>
                </a:solidFill>
                <a:latin typeface="Calibri"/>
              </a:rPr>
              <a:t>README + changelog updated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1A1A18"/>
                </a:solidFill>
                <a:latin typeface="Calibri"/>
              </a:rPr>
              <a:t>■ </a:t>
            </a:r>
            <a:r>
              <a:rPr sz="1800" b="1">
                <a:solidFill>
                  <a:srgbClr val="8A3D14"/>
                </a:solidFill>
                <a:latin typeface="Consolas"/>
              </a:rPr>
              <a:t>afeb35e  </a:t>
            </a:r>
            <a:r>
              <a:rPr sz="1800" b="0">
                <a:solidFill>
                  <a:srgbClr val="1A1A18"/>
                </a:solidFill>
                <a:latin typeface="Calibri"/>
              </a:rPr>
              <a:t>Merge TypeScript branch into feature/python-parser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1A1A18"/>
                </a:solidFill>
                <a:latin typeface="Calibri"/>
              </a:rPr>
              <a:t>■ </a:t>
            </a:r>
            <a:r>
              <a:rPr sz="1800" b="1">
                <a:solidFill>
                  <a:srgbClr val="8A3D14"/>
                </a:solidFill>
                <a:latin typeface="Consolas"/>
              </a:rPr>
              <a:t>f4885f9  </a:t>
            </a:r>
            <a:r>
              <a:rPr sz="1800" b="0">
                <a:solidFill>
                  <a:srgbClr val="1A1A18"/>
                </a:solidFill>
                <a:latin typeface="Calibri"/>
              </a:rPr>
              <a:t>TypeScript refinements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1A1A18"/>
                </a:solidFill>
                <a:latin typeface="Calibri"/>
              </a:rPr>
              <a:t>■ </a:t>
            </a:r>
            <a:r>
              <a:rPr sz="1800" b="1">
                <a:solidFill>
                  <a:srgbClr val="8A3D14"/>
                </a:solidFill>
                <a:latin typeface="Consolas"/>
              </a:rPr>
              <a:t>c080c1c  </a:t>
            </a:r>
            <a:r>
              <a:rPr sz="1800" b="1">
                <a:solidFill>
                  <a:srgbClr val="1A1A18"/>
                </a:solidFill>
                <a:latin typeface="Calibri"/>
              </a:rPr>
              <a:t>Go support added, current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How Simian finds duplicate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1. Source file is read (.go / .ts / .py)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2. Normalising Reader collapses tricky literals to one significant line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Go: raw (backtick) strings, GoRawStringNormalisingReader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TypeScript: template literals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Python: triple-quoted strings, PythonTripleQuoteNormalisingReader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3. Language tokenizer splits the file into tokens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GoParser / TypeScriptParser / PythonParser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4. TokenVisitor chain classifies and optionally suppresses tokens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– Identifier recognition → ignoreModifiers → ignoreTypeAnnotations → ignoreStrings → …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5. Each line becomes a fingerprint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A1A18"/>
                </a:solidFill>
                <a:latin typeface="Calibri"/>
              </a:rPr>
              <a:t>■ 6. Fingerprints are compared across files: ≥ threshold consecutive matches = duplicate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LANGUAGE SPOTLIGHT ·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Go: new language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Go (.go) language support with dedicated GoParser and GoParserFactory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raw string literals (backtick strings) normalised before tokenisation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grouped import blocks, import ( ... ), suppressed to prevent false duplicate matches across files sharing common imports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Go keywords, built-in types and built-in functions fully recognised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ignoreModifiers supports const, var, func, type, defer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– goroutine keyword ‘go’ intentionally excluded, analogous to ‘await’ in TypeScript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ignoreStrings suppresses raw string literal contents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ignoreCharacters / ignoreCharacterCase supported for rune literals (e.g. ‘a’, ‘\n’)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ignoreSubtypeNames and ignoreVariableNames supported for Go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New: “go” accepted as a value for -language and -defaultLanguage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LIVE EXAMPLE ·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Raw strings were hiding a duplicate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greetings.go: two functions built from the same template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– Differ only in a backtick raw string and a parameter name (name vs admin)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Default run: Simian treats string contents and identifiers as significant → sees two different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0881360" cy="96012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$ java -jar simian-4.2.2.jar -threshold=3 greetings.go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8A8A84"/>
                </a:solidFill>
                <a:latin typeface="Consolas"/>
              </a:rPr>
              <a:t>...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0716D"/>
                </a:solidFill>
                <a:latin typeface="Consolas"/>
              </a:rPr>
              <a:t>Found 0 duplicate lines in 0 blocks in 0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8"/>
                </a:solidFill>
                <a:latin typeface="Calibri"/>
              </a:rPr>
              <a:t>With -ignoreStrings and -ignoreVariableNames enabled: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09160"/>
            <a:ext cx="10881360" cy="173736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350">
                <a:solidFill>
                  <a:srgbClr val="FFFFFF"/>
                </a:solidFill>
                <a:latin typeface="Consolas"/>
              </a:rPr>
              <a:t>$ java -jar simian-4.2.2.jar -threshold=3 -ignoreStrings+ \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FFFFF"/>
                </a:solidFill>
                <a:latin typeface="Consolas"/>
              </a:rPr>
              <a:t>    -ignoreVariableNames+ -reportDuplicateText+ greetings.go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E8E6DF"/>
                </a:solidFill>
                <a:latin typeface="Consolas"/>
              </a:rPr>
              <a:t>Found 3 duplicate lines with fingerprint 9e621d5f...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E8E6DF"/>
                </a:solidFill>
                <a:latin typeface="Consolas"/>
              </a:rPr>
              <a:t> Between lines 17-19 and 11-13 in greetings.go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0C48A"/>
                </a:solidFill>
                <a:latin typeface="Consolas"/>
              </a:rPr>
              <a:t>    greeting := `Hello there, ...` + name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0C48A"/>
                </a:solidFill>
                <a:latin typeface="Consolas"/>
              </a:rPr>
              <a:t>    return strings.ToUpper(greeting)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6FC46F"/>
                </a:solidFill>
                <a:latin typeface="Consolas"/>
              </a:rPr>
              <a:t>Found 6 duplicate lines in 2 blocks in 1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LANGUAGE SPOTLIGHT ·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TypeScript: enhancements &amp;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50" b="1">
                <a:solidFill>
                  <a:srgbClr val="1A1A18"/>
                </a:solidFill>
                <a:latin typeface="Calibri"/>
              </a:rPr>
              <a:t>■ Enhanced: ignoreTypeAnnotations now suppresses tuple types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– Including nested array elements, e.g. [string[], number]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50" b="1">
                <a:solidFill>
                  <a:srgbClr val="1A1A18"/>
                </a:solidFill>
                <a:latin typeface="Calibri"/>
              </a:rPr>
              <a:t>■ Fixed: single-character uppercase identifiers (T, K, V) now correctly classified as TYPE instead of CONSTANT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– Generic type parameters like &lt;T&gt; were previously misread as constants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50" b="1">
                <a:solidFill>
                  <a:srgbClr val="1A1A18"/>
                </a:solidFill>
                <a:latin typeface="Calibri"/>
              </a:rPr>
              <a:t>■ Fixed: TypeScript await keyword no longer incorrectly treated as a modifier by ignoreModifiers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– await is an expression operator; stripping it made awaited and non-awaited calls fingerprint identically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50" b="1">
                <a:solidFill>
                  <a:srgbClr val="1A1A18"/>
                </a:solidFill>
                <a:latin typeface="Calibri"/>
              </a:rPr>
              <a:t>■ Updated README to document Go language options and TypeScript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LIVE EXAMPLE · TYPESCRIPT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Type annotations no longer break a 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billing.ts: same arithmetic, different types on every line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– Includes a tuple return type with a nested array element: [number, string]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10881360" cy="96012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$ java -jar simian-4.2.2.jar -threshold=3 billing.ts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8A8A84"/>
                </a:solidFill>
                <a:latin typeface="Consolas"/>
              </a:rPr>
              <a:t>...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0716D"/>
                </a:solidFill>
                <a:latin typeface="Consolas"/>
              </a:rPr>
              <a:t>Found 0 duplicate lines in 0 blocks in 0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8"/>
                </a:solidFill>
                <a:latin typeface="Calibri"/>
              </a:rPr>
              <a:t>With -ignoreTypeAnnotations, -ignoreVariableNames and -ignoreIdentifiers enabled: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10881360" cy="214884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$ java -jar simian-4.2.2.jar -threshold=3 -ignoreTypeAnnotations+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-ignoreVariableNames+ -ignoreIdentifiers+ \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-reportDuplicateText+ billing.ts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E8E6DF"/>
                </a:solidFill>
                <a:latin typeface="Consolas"/>
              </a:rPr>
              <a:t>Found 3 duplicate lines with fingerprint 92921d87...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E8E6DF"/>
                </a:solidFill>
                <a:latin typeface="Consolas"/>
              </a:rPr>
              <a:t> Between lines 7-9 and 1-3 in billing.ts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0C48A"/>
                </a:solidFill>
                <a:latin typeface="Consolas"/>
              </a:rPr>
              <a:t>function calculateOrderTotal(price: number, quantity: number): [number, string] {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0C48A"/>
                </a:solidFill>
                <a:latin typeface="Consolas"/>
              </a:rPr>
              <a:t>    const tax: number = price * 0.08;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F0C48A"/>
                </a:solidFill>
                <a:latin typeface="Consolas"/>
              </a:rPr>
              <a:t>    const total: number = (price + tax) * quantity;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FC46F"/>
                </a:solidFill>
                <a:latin typeface="Consolas"/>
              </a:rPr>
              <a:t>Found 6 duplicate lines in 2 blocks in 1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LANGUAGE SPOTLIGHT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Python: enhancements &amp; 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Enhanced: triple-quoted strings normalised before tokenisation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– Prevents line-sync errors when a string spans multiple physical lines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Enhanced: string literal prefixes stripped from fingerprints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– f, b, r, u, rb, fr, etc. no longer make otherwise-identical strings differ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Enhanced: full keyword and built-in type recognition</a:t>
            </a:r>
          </a:p>
          <a:p>
            <a:pPr lvl="1">
              <a:lnSpc>
                <a:spcPct val="11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– Includes match/case soft keywords (Python 3.10+)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Enhanced: import lines suppressed; async treated as a modifier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Fixed: underscore-only identifiers ( _ ) now classified as VARIABLE instead of CONSTANT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Fixed: floor-division operator ( // ) no longer treated as a line comment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550" b="1">
                <a:solidFill>
                  <a:srgbClr val="1A1A18"/>
                </a:solidFill>
                <a:latin typeface="Calibri"/>
              </a:rPr>
              <a:t>■ “python” accepted as a value for -language (alongside existing “py”)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LIVE EXAMPLE ·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Triple-quotes and // stop lying to the 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queries.py: one query built with an f-string, another with an rb-prefixed raw byte string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– Plus a pair of floor-division helper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10881360" cy="96012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$ java -jar simian-4.2.2.jar -threshold=2 queries.py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8A8A84"/>
                </a:solidFill>
                <a:latin typeface="Consolas"/>
              </a:rPr>
              <a:t>...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E0716D"/>
                </a:solidFill>
                <a:latin typeface="Consolas"/>
              </a:rPr>
              <a:t>Found 0 duplicate lines in 0 blocks in 0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8"/>
                </a:solidFill>
                <a:latin typeface="Calibri"/>
              </a:rPr>
              <a:t>With -ignoreStrings, -ignoreVariableNames and -ignoreIdentifiers enabled: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10881360" cy="160020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350">
                <a:solidFill>
                  <a:srgbClr val="FFFFFF"/>
                </a:solidFill>
                <a:latin typeface="Consolas"/>
              </a:rPr>
              <a:t>$ java -jar simian-4.2.2.jar -threshold=2 -ignoreStrings+ \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FFFFF"/>
                </a:solidFill>
                <a:latin typeface="Consolas"/>
              </a:rPr>
              <a:t>    -ignoreVariableNames+ -ignoreIdentifiers+ \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FFFFFF"/>
                </a:solidFill>
                <a:latin typeface="Consolas"/>
              </a:rPr>
              <a:t>    -reportDuplicateText+ queries.py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E8E6DF"/>
                </a:solidFill>
                <a:latin typeface="Consolas"/>
              </a:rPr>
              <a:t>compute_page_count / compute_batch_count  →  2 duplicate lines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E8E6DF"/>
                </a:solidFill>
                <a:latin typeface="Consolas"/>
              </a:rPr>
              <a:t>fetch_order / fetch_user  →  3 duplicate lines (triple-quoted block)</a:t>
            </a:r>
          </a:p>
          <a:p>
            <a:pPr>
              <a:lnSpc>
                <a:spcPct val="125000"/>
              </a:lnSpc>
            </a:pPr>
            <a:r>
              <a:rPr sz="1350">
                <a:solidFill>
                  <a:srgbClr val="6FC46F"/>
                </a:solidFill>
                <a:latin typeface="Consolas"/>
              </a:rPr>
              <a:t>Found 10 duplicate lines in 4 blocks in 1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FIXED, NOT JUST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Four classification bugs,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257800" cy="2331720"/>
          </a:xfrm>
          <a:prstGeom prst="rect">
            <a:avLst/>
          </a:prstGeom>
          <a:solidFill>
            <a:srgbClr val="F7F6F2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8"/>
                </a:solidFill>
                <a:latin typeface="Calibri"/>
              </a:rPr>
              <a:t>1.  Single-letter generics misclassified</a:t>
            </a:r>
          </a:p>
          <a:p>
            <a:r>
              <a:rPr sz="1150" i="1">
                <a:solidFill>
                  <a:srgbClr val="52514E"/>
                </a:solidFill>
                <a:latin typeface="Calibri"/>
              </a:rPr>
              <a:t>T, K, V were classed CONSTANT, not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4892040" cy="123444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150">
                <a:solidFill>
                  <a:srgbClr val="898781"/>
                </a:solidFill>
                <a:latin typeface="Consolas"/>
              </a:rPr>
              <a:t>RecogniseIdentifiersTokenVisitor.java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B6342F"/>
                </a:solidFill>
                <a:latin typeface="Consolas"/>
              </a:rPr>
              <a:t>- return true;  // any all-caps name is a constant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006300"/>
                </a:solidFill>
                <a:latin typeface="Consolas"/>
              </a:rPr>
              <a:t>+ if (name.length() == 1) return false;  // fall through to isTypeName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08760"/>
            <a:ext cx="5257800" cy="2331720"/>
          </a:xfrm>
          <a:prstGeom prst="rect">
            <a:avLst/>
          </a:prstGeom>
          <a:solidFill>
            <a:srgbClr val="F7F6F2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18488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8"/>
                </a:solidFill>
                <a:latin typeface="Calibri"/>
              </a:rPr>
              <a:t>2.  Underscore-only names misclassified</a:t>
            </a:r>
          </a:p>
          <a:p>
            <a:r>
              <a:rPr sz="1150" i="1">
                <a:solidFill>
                  <a:srgbClr val="52514E"/>
                </a:solidFill>
                <a:latin typeface="Calibri"/>
              </a:rPr>
              <a:t>'_' was classed CONSTANT, not 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468880"/>
            <a:ext cx="4892040" cy="123444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150">
                <a:solidFill>
                  <a:srgbClr val="898781"/>
                </a:solidFill>
                <a:latin typeface="Consolas"/>
              </a:rPr>
              <a:t>RecogniseIdentifiersTokenVisitor.java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006300"/>
                </a:solidFill>
                <a:latin typeface="Consolas"/>
              </a:rPr>
              <a:t>+ return hasUpperCase;  // '_' has no uppercase letter → VARIABLE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5257800" cy="2331720"/>
          </a:xfrm>
          <a:prstGeom prst="rect">
            <a:avLst/>
          </a:prstGeom>
          <a:solidFill>
            <a:srgbClr val="F7F6F2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87367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8"/>
                </a:solidFill>
                <a:latin typeface="Calibri"/>
              </a:rPr>
              <a:t>3.  Python // read as a comment</a:t>
            </a:r>
          </a:p>
          <a:p>
            <a:r>
              <a:rPr sz="1150" i="1">
                <a:solidFill>
                  <a:srgbClr val="52514E"/>
                </a:solidFill>
                <a:latin typeface="Calibri"/>
              </a:rPr>
              <a:t>Floor-division silently deleted the rest of the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37759"/>
            <a:ext cx="4892040" cy="123444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150">
                <a:solidFill>
                  <a:srgbClr val="898781"/>
                </a:solidFill>
                <a:latin typeface="Consolas"/>
              </a:rPr>
              <a:t>PythonParser.java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006300"/>
                </a:solidFill>
                <a:latin typeface="Consolas"/>
              </a:rPr>
              <a:t>+ tokenizer.slashSlashComments(false);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006300"/>
                </a:solidFill>
                <a:latin typeface="Consolas"/>
              </a:rPr>
              <a:t>+ tokenizer.ordinaryChar('/');  // '//' is floor-division, not a comment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977639"/>
            <a:ext cx="5257800" cy="2331720"/>
          </a:xfrm>
          <a:prstGeom prst="rect">
            <a:avLst/>
          </a:prstGeom>
          <a:solidFill>
            <a:srgbClr val="F7F6F2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087367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8"/>
                </a:solidFill>
                <a:latin typeface="Calibri"/>
              </a:rPr>
              <a:t>4.  TypeScript await treated as a modifier</a:t>
            </a:r>
          </a:p>
          <a:p>
            <a:r>
              <a:rPr sz="1150" i="1">
                <a:solidFill>
                  <a:srgbClr val="52514E"/>
                </a:solidFill>
                <a:latin typeface="Calibri"/>
              </a:rPr>
              <a:t>Awaited and non-awaited calls fingerprinted identically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937759"/>
            <a:ext cx="4892040" cy="123444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150">
                <a:solidFill>
                  <a:srgbClr val="898781"/>
                </a:solidFill>
                <a:latin typeface="Consolas"/>
              </a:rPr>
              <a:t>TypeScriptParserFactory.java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898781"/>
                </a:solidFill>
                <a:latin typeface="Consolas"/>
              </a:rPr>
              <a:t>// 'await' intentionally absent from MODIFIERS: it's an expression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898781"/>
                </a:solidFill>
                <a:latin typeface="Consolas"/>
              </a:rPr>
              <a:t>// operator; stripping it would lose real behavioural differences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ACROSS ALL THREE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Duplication was there all along, just unreadable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2514E"/>
                </a:solidFill>
                <a:latin typeface="Calibri"/>
              </a:rPr>
              <a:t>Same three snippets from this deck, default options vs. the new language-aware flags. The source never changed; only Simian's ability to see through it.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645920" y="2103120"/>
          <a:ext cx="8869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What's new in the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291840"/>
                <a:gridCol w="5852160"/>
              </a:tblGrid>
              <a:tr h="58293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109728" marR="109728" marT="54864" marB="54864" anchor="ctr">
                    <a:solidFill>
                      <a:srgbClr val="C95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Turn it on with</a:t>
                      </a:r>
                    </a:p>
                  </a:txBody>
                  <a:tcPr marL="109728" marR="109728" marT="54864" marB="54864" anchor="ctr">
                    <a:solidFill>
                      <a:srgbClr val="C959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109728" marR="109728" marT="54864" marB="54864" anchor="ctr">
                    <a:solidFill>
                      <a:srgbClr val="C9591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8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onsolas"/>
                        </a:rPr>
                        <a:t>-language=go / .go ext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New dedicated parser: keywords, built-ins, raw strings, rune literals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8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onsolas"/>
                        </a:rPr>
                        <a:t>-ignoreModifiers+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Suppresses const, var, func, type, defer (go excluded, like TS await)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8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onsolas"/>
                        </a:rPr>
                        <a:t>-ignoreStrings+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Suppresses raw (backtick) string contents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8"/>
                          </a:solidFill>
                          <a:latin typeface="Calibri"/>
                        </a:rPr>
                        <a:t>TypeScript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onsolas"/>
                        </a:rPr>
                        <a:t>-ignoreTypeAnnotations+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Now also suppresses tuple types, incl. nested array elements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8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onsolas"/>
                        </a:rPr>
                        <a:t>-language=python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Alias for py, now also accepted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8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onsolas"/>
                        </a:rPr>
                        <a:t>-ignoreStrings+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Normalises triple-quotes; strips f/b/r/u/rb/fr prefixes first</a:t>
                      </a:r>
                    </a:p>
                  </a:txBody>
                  <a:tcPr marL="109728" marR="109728" marT="54864" marB="54864" anchor="ctr">
                    <a:solidFill>
                      <a:srgbClr val="F7F6F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A18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onsolas"/>
                        </a:rPr>
                        <a:t>-ignoreModifiers+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52514E"/>
                          </a:solidFill>
                          <a:latin typeface="Calibri"/>
                        </a:rPr>
                        <a:t>Suppresses async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Simian Similarity Analyzer 4.2.2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u="none">
                <a:solidFill>
                  <a:srgbClr val="C9591F"/>
                </a:solidFill>
                <a:latin typeface="Calibri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A18"/>
                </a:solidFill>
                <a:latin typeface="Georgia"/>
              </a:rPr>
              <a:t>Point it at a real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170432"/>
            <a:ext cx="502920" cy="38100"/>
          </a:xfrm>
          <a:prstGeom prst="rect">
            <a:avLst/>
          </a:prstGeom>
          <a:solidFill>
            <a:srgbClr val="C9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8686800" cy="1280160"/>
          </a:xfrm>
          <a:prstGeom prst="rect">
            <a:avLst/>
          </a:prstGeom>
          <a:solidFill>
            <a:srgbClr val="222220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lnSpc>
                <a:spcPct val="12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$ ./gradlew jar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$ java -jar build/libs/simian-4.2.2.jar \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-threshold=6 -ignoreStrings+ -ignoreVariableNames+ \</a:t>
            </a:r>
          </a:p>
          <a:p>
            <a:pPr>
              <a:lnSpc>
                <a:spcPct val="12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"**/*.go" "**/*.ts" "**/*.py"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Full option reference and changelog: README.md and changelog.txt on this branch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Version 4.2.2, released June 16th, 2026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License: Apache License 2.0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 b="1">
                <a:solidFill>
                  <a:srgbClr val="1A1A18"/>
                </a:solidFill>
                <a:latin typeface="Calibri"/>
              </a:rPr>
              <a:t>■ Contact: simian@quandarypeak.com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98781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